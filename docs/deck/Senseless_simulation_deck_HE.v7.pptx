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4"/>
    <p:sldId id="259" r:id="rId5"/>
    <p:sldId id="260" r:id="rId6"/>
    <p:sldId id="275" r:id="rId26"/>
    <p:sldId id="276" r:id="rId27"/>
    <p:sldId id="261" r:id="rId7"/>
    <p:sldId id="262" r:id="rId8"/>
    <p:sldId id="263" r:id="rId9"/>
    <p:sldId id="264" r:id="rId10"/>
    <p:sldId id="265" r:id="rId11"/>
    <p:sldId id="277" r:id="rId28"/>
    <p:sldId id="266" r:id="rId12"/>
    <p:sldId id="267" r:id="rId13"/>
    <p:sldId id="272" r:id="rId23"/>
    <p:sldId id="268" r:id="rId14"/>
    <p:sldId id="273" r:id="rId24"/>
    <p:sldId id="274" r:id="rId25"/>
    <p:sldId id="278" r:id="rId29"/>
    <p:sldId id="279" r:id="rId30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8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82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5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4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554480"/>
            <a:ext cx="4297680" cy="42976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4114800"/>
            <a:ext cx="2834640" cy="2834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3135" y="2103120"/>
            <a:ext cx="7863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FFFFFF"/>
                </a:solidFill>
                <a:latin typeface="Arial"/>
              </a:rPr>
              <a:t>Senseless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2027" y="3429000"/>
            <a:ext cx="8556708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he-IL" sz="2200" dirty="0">
                <a:solidFill>
                  <a:schemeClr val="bg1"/>
                </a:solidFill>
                <a:latin typeface="Arial"/>
              </a:rPr>
              <a:t>מחברים בין עולם שומע לעולם חרש - בזמן אמת, במכשיר אחד, בלי ענן.</a:t>
            </a:r>
            <a:endParaRPr sz="22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695" y="6161228"/>
            <a:ext cx="105156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he-IL" sz="1400" dirty="0">
                <a:solidFill>
                  <a:schemeClr val="bg1"/>
                </a:solidFill>
                <a:latin typeface="Arial"/>
              </a:rPr>
              <a:t>מגישים: אסף עמרני וגיל אוחנה. המרכז האקדמי רופין, מחלקת חשמל ואלקטרוניקה</a:t>
            </a:r>
            <a:endParaRPr sz="1400" b="0" i="0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82335" y="566928"/>
            <a:ext cx="54864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מי אנחנו</a:t>
            </a:r>
          </a:p>
        </p:txBody>
      </p:sp>
      <p:sp>
        <p:nvSpPr>
          <p:cNvPr id="3" name="Oval 2"/>
          <p:cNvSpPr/>
          <p:nvPr/>
        </p:nvSpPr>
        <p:spPr>
          <a:xfrm>
            <a:off x="9052560" y="1965960"/>
            <a:ext cx="1325880" cy="1325880"/>
          </a:xfrm>
          <a:prstGeom prst="ellipse">
            <a:avLst/>
          </a:prstGeom>
          <a:solidFill>
            <a:srgbClr val="4FA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חבר צוות 1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823960" y="3429000"/>
            <a:ext cx="178308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he-IL" sz="1500" b="0" i="0" dirty="0">
                <a:solidFill>
                  <a:srgbClr val="6B7B82"/>
                </a:solidFill>
                <a:latin typeface="Arial"/>
              </a:rPr>
              <a:t>אסף עמרני</a:t>
            </a:r>
            <a:endParaRPr sz="1500" b="0" i="0" dirty="0">
              <a:solidFill>
                <a:srgbClr val="6B7B82"/>
              </a:solidFill>
              <a:latin typeface="Arial"/>
            </a:endParaRPr>
          </a:p>
        </p:txBody>
      </p:sp>
      <p:sp>
        <p:nvSpPr>
          <p:cNvPr id="5" name="Oval 4"/>
          <p:cNvSpPr/>
          <p:nvPr/>
        </p:nvSpPr>
        <p:spPr>
          <a:xfrm>
            <a:off x="6766560" y="1965960"/>
            <a:ext cx="1325880" cy="13258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חבר צוות 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537960" y="3429000"/>
            <a:ext cx="178308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he-IL" sz="1500" b="0" i="0" dirty="0">
                <a:solidFill>
                  <a:srgbClr val="6B7B82"/>
                </a:solidFill>
                <a:latin typeface="Arial"/>
              </a:rPr>
              <a:t>גיל אוחנה </a:t>
            </a:r>
            <a:endParaRPr sz="1500" b="0" i="0" dirty="0">
              <a:solidFill>
                <a:srgbClr val="6B7B82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0560" y="1965960"/>
            <a:ext cx="1325880" cy="13258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מנחה הפרויקט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251960" y="3429000"/>
            <a:ext cx="178308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he-IL" sz="1500" b="0" i="0" dirty="0">
                <a:solidFill>
                  <a:srgbClr val="6B7B82"/>
                </a:solidFill>
                <a:latin typeface="Arial"/>
              </a:rPr>
              <a:t>ד"ר בנימין גור סולומון</a:t>
            </a:r>
            <a:endParaRPr sz="1500" b="0" i="0" dirty="0">
              <a:solidFill>
                <a:srgbClr val="6B7B82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3135" y="4058483"/>
            <a:ext cx="10515600" cy="15758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2000" b="1" lang="he-IL"/>
              <a:t>•  ההשראה: </a:t>
            </a:r>
            <a:r>
              <a:rPr sz="2000" b="0" lang="he-IL"/>
              <a:t>מפגש עם תלמיד אילם שהצטרף לכיתה בחטיבת הביניים.</a:t>
            </a:r>
          </a:p>
          <a:p>
            <a:pPr algn="r" rtl="1">
              <a:spcAft>
                <a:spcPts val="800"/>
              </a:spcAft>
            </a:pPr>
            <a:r>
              <a:rPr sz="2000" b="1" lang="he-IL"/>
              <a:t>•  מה ראינו: </a:t>
            </a:r>
            <a:r>
              <a:rPr sz="2000" b="0" lang="he-IL"/>
              <a:t>בלי שפה משותפת, גם להביע רצון או תחושה הופך לקשה.</a:t>
            </a:r>
          </a:p>
          <a:p>
            <a:pPr algn="r" rtl="1">
              <a:spcAft>
                <a:spcPts val="800"/>
              </a:spcAft>
            </a:pPr>
            <a:r>
              <a:rPr sz="2000" b="1" lang="he-IL"/>
              <a:t>•  המטרה: </a:t>
            </a:r>
            <a:r>
              <a:rPr sz="2000" b="0" lang="he-IL"/>
              <a:t>לגשר על הפער בעזרת חיישנים, עיבוד אותות, תוכנה ואלקטרוניקה.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82335" y="566928"/>
            <a:ext cx="54864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הבעיה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093" y="5029200"/>
            <a:ext cx="10515600" cy="31803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0" i="0" dirty="0" err="1" lang="he-IL">
                <a:latin typeface="Arial"/>
              </a:rPr>
              <a:t>החֵרֵשים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וכבדי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השמיעה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זקוקים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לתקשורת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שעובדת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בכל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רגע</a:t>
            </a:r>
            <a:r>
              <a:rPr lang="he-IL" sz="1800" b="0" i="0" dirty="0">
                <a:latin typeface="Arial"/>
              </a:rPr>
              <a:t> ובכל מקום </a:t>
            </a:r>
            <a:r>
              <a:rPr sz="1800" b="0" i="0" dirty="0" lang="en-US">
                <a:latin typeface="Arial"/>
              </a:rPr>
              <a:t/>
            </a:r>
            <a:r>
              <a:rPr lang="en-US" sz="1800" b="0" i="0" dirty="0">
                <a:latin typeface="Arial"/>
              </a:rPr>
              <a:t>-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אצל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הרופא</a:t>
            </a:r>
            <a:r>
              <a:rPr sz="1800" b="0" i="0" dirty="0" lang="en-US">
                <a:latin typeface="Arial"/>
              </a:rPr>
              <a:t>, </a:t>
            </a:r>
            <a:r>
              <a:rPr sz="1800" b="0" i="0" dirty="0" err="1" lang="he-IL">
                <a:latin typeface="Arial"/>
              </a:rPr>
              <a:t>בעבודה</a:t>
            </a:r>
            <a:r>
              <a:rPr sz="1800" b="0" i="0" dirty="0" lang="en-US">
                <a:latin typeface="Arial"/>
              </a:rPr>
              <a:t>, </a:t>
            </a:r>
            <a:r>
              <a:rPr sz="1800" b="0" i="0" dirty="0" err="1" lang="he-IL">
                <a:latin typeface="Arial"/>
              </a:rPr>
              <a:t>עם</a:t>
            </a:r>
            <a:r>
              <a:rPr sz="1800" b="0" i="0" dirty="0" lang="en-US">
                <a:latin typeface="Arial"/>
              </a:rPr>
              <a:t> </a:t>
            </a:r>
            <a:r>
              <a:rPr sz="1800" b="0" i="0" dirty="0" err="1" lang="he-IL">
                <a:latin typeface="Arial"/>
              </a:rPr>
              <a:t>המשפחה</a:t>
            </a:r>
            <a:r>
              <a:rPr sz="1800" b="0" i="0" dirty="0" lang="en-US"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8" y="1417320"/>
            <a:ext cx="3566160" cy="31546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ead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052" y="1691640"/>
            <a:ext cx="994235" cy="960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76488" y="2788920"/>
            <a:ext cx="30175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1" lang="he-IL">
                <a:solidFill>
                  <a:srgbClr val="173039"/>
                </a:solidFill>
                <a:latin typeface="Arial"/>
              </a:rPr>
              <a:t>זמינות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383280"/>
            <a:ext cx="30175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מתורגמן יקר ולא תמיד</a:t>
            </a:r>
          </a:p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נמצא ברגע הנכון.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1417320"/>
            <a:ext cx="3566160" cy="31546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ifi_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810" y="1691640"/>
            <a:ext cx="1179277" cy="960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90288" y="2788920"/>
            <a:ext cx="30175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1" lang="he-IL">
                <a:solidFill>
                  <a:srgbClr val="173039"/>
                </a:solidFill>
                <a:latin typeface="Arial"/>
              </a:rPr>
              <a:t>תלות ברשת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383280"/>
            <a:ext cx="30175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רוב הפתרונות דורשים</a:t>
            </a:r>
          </a:p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חיבור אינטרנט יציב.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" y="1417320"/>
            <a:ext cx="3566160" cy="31546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1886" y="1691640"/>
            <a:ext cx="854001" cy="9601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088" y="2788920"/>
            <a:ext cx="30175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1" lang="he-IL">
                <a:solidFill>
                  <a:srgbClr val="173039"/>
                </a:solidFill>
                <a:latin typeface="Arial"/>
              </a:rPr>
              <a:t>פרטיות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3383280"/>
            <a:ext cx="30175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וידאו אישי נשלח ומעובד</a:t>
            </a:r>
          </a:p>
          <a:p>
            <a:pPr algn="r" rtl="1">
              <a:lnSpc>
                <a:spcPct val="11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בענן - הרחק מהמשתמש.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1935" y="566928"/>
            <a:ext cx="8686800" cy="6217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he-IL" sz="3800" b="1" i="0" dirty="0">
                <a:solidFill>
                  <a:srgbClr val="173039"/>
                </a:solidFill>
                <a:latin typeface="Arial"/>
              </a:rPr>
              <a:t>הפתרון: </a:t>
            </a:r>
            <a:r>
              <a:rPr lang="en-US" sz="3800" b="1" i="0" dirty="0">
                <a:solidFill>
                  <a:srgbClr val="173039"/>
                </a:solidFill>
                <a:latin typeface="Arial"/>
              </a:rPr>
              <a:t>Senseless</a:t>
            </a:r>
            <a:endParaRPr sz="3800" b="1" i="0" dirty="0">
              <a:solidFill>
                <a:srgbClr val="17303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135" y="1481328"/>
            <a:ext cx="10515600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he-IL" sz="1900" b="0" i="0" dirty="0">
                <a:latin typeface="Arial"/>
              </a:rPr>
              <a:t>מכשיר קטן ועצמאי (Raspberry Pi) עם מסך מגע, שמתרגם תקשורת בשני כיוונים - מקומית ובזמן אמת.</a:t>
            </a:r>
            <a:endParaRPr sz="1900" b="0" i="0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2148840"/>
            <a:ext cx="5486400" cy="370332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era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476" y="2423160"/>
            <a:ext cx="1010379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74536" y="3383280"/>
            <a:ext cx="489204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000" b="1" lang="he-IL">
                <a:solidFill>
                  <a:srgbClr val="173039"/>
                </a:solidFill>
                <a:latin typeface="Arial"/>
              </a:rPr>
              <a:t>מסימן לטקסט</a:t>
            </a:r>
          </a:p>
        </p:txBody>
      </p:sp>
      <p:pic>
        <p:nvPicPr>
          <p:cNvPr id="16" name="Picture 15" descr="camera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7815" y="4242816"/>
            <a:ext cx="764960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96856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מצלמה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555480" y="4572000"/>
            <a:ext cx="682752" cy="0"/>
          </a:xfrm>
          <a:prstGeom prst="line">
            <a:avLst/>
          </a:prstGeom>
          <a:ln w="25400">
            <a:solidFill>
              <a:srgbClr val="566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hands_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920" y="4242816"/>
            <a:ext cx="1016991" cy="6583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9976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שפת סימנים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848600" y="4572000"/>
            <a:ext cx="682752" cy="0"/>
          </a:xfrm>
          <a:prstGeom prst="line">
            <a:avLst/>
          </a:prstGeom>
          <a:ln w="25400">
            <a:solidFill>
              <a:srgbClr val="566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289" y="4242816"/>
            <a:ext cx="572493" cy="658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83096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מילה כתובה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" y="2148840"/>
            <a:ext cx="5486400" cy="370332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ic_bi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4214" y="2423160"/>
            <a:ext cx="648761" cy="868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6656" y="3383280"/>
            <a:ext cx="489204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000" b="1" lang="he-IL">
                <a:solidFill>
                  <a:srgbClr val="173039"/>
                </a:solidFill>
                <a:latin typeface="Arial"/>
              </a:rPr>
              <a:t>מדיבור לטקסט ולסימן</a:t>
            </a:r>
          </a:p>
        </p:txBody>
      </p:sp>
      <p:pic>
        <p:nvPicPr>
          <p:cNvPr id="27" name="Picture 26" descr="mic_sma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288" y="4242816"/>
            <a:ext cx="484254" cy="6583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98975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מיקרופון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657600" y="4572000"/>
            <a:ext cx="682752" cy="0"/>
          </a:xfrm>
          <a:prstGeom prst="line">
            <a:avLst/>
          </a:prstGeom>
          <a:ln w="25400">
            <a:solidFill>
              <a:srgbClr val="566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wave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1479" y="4242816"/>
            <a:ext cx="868113" cy="658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92096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זיהוי דיבור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950720" y="4572000"/>
            <a:ext cx="682752" cy="0"/>
          </a:xfrm>
          <a:prstGeom prst="line">
            <a:avLst/>
          </a:prstGeom>
          <a:ln w="25400">
            <a:solidFill>
              <a:srgbClr val="566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capti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914" y="4242816"/>
            <a:ext cx="845483" cy="6583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5216" y="4983480"/>
            <a:ext cx="1706879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כתוביות + דמות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554480" y="4297680"/>
            <a:ext cx="3291840" cy="32918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10335" y="2468880"/>
            <a:ext cx="100584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4600" b="1" i="0" lang="he-IL">
                <a:solidFill>
                  <a:srgbClr val="FFFFFF"/>
                </a:solidFill>
                <a:latin typeface="Arial"/>
              </a:rPr>
              <a:t>מתחת למכסה המנוע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0335" y="3886200"/>
            <a:ext cx="100584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he-IL" sz="2200" b="0" i="0" dirty="0">
                <a:solidFill>
                  <a:srgbClr val="CFE6E8"/>
                </a:solidFill>
                <a:latin typeface="Arial"/>
              </a:rPr>
              <a:t>אז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איך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המערכת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בנויה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ומה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באמת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רץ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על</a:t>
            </a:r>
            <a:r>
              <a:rPr sz="2200" b="0" i="0" dirty="0" lang="en-US">
                <a:solidFill>
                  <a:srgbClr val="CFE6E8"/>
                </a:solidFill>
                <a:latin typeface="Arial"/>
              </a:rPr>
              <a:t> </a:t>
            </a:r>
            <a:r>
              <a:rPr sz="2200" b="0" i="0" dirty="0" err="1" lang="he-IL">
                <a:solidFill>
                  <a:srgbClr val="CFE6E8"/>
                </a:solidFill>
                <a:latin typeface="Arial"/>
              </a:rPr>
              <a:t>המכשיר</a:t>
            </a:r>
            <a:r>
              <a:rPr lang="en-US" sz="2200" dirty="0">
                <a:solidFill>
                  <a:srgbClr val="CFE6E8"/>
                </a:solidFill>
                <a:latin typeface="Arial"/>
              </a:rPr>
              <a:t>?</a:t>
            </a:r>
            <a:endParaRPr sz="2200" b="0" i="0" dirty="0">
              <a:solidFill>
                <a:srgbClr val="CFE6E8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6120" y="57642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ארכיטקטורת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המערכת</a:t>
            </a:r>
            <a:endParaRPr sz="3800" b="1" i="0" dirty="0">
              <a:solidFill>
                <a:srgbClr val="173039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הכול רץ מקומית על ה-Raspberry Pi, ללא חיבור לרשת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371600"/>
            <a:ext cx="11091672" cy="3611880"/>
          </a:xfrm>
          <a:prstGeom prst="roundRect">
            <a:avLst>
              <a:gd name="adj" fmla="val 3000"/>
            </a:avLst>
          </a:prstGeom>
          <a:solidFill>
            <a:srgbClr val="F4F9F9"/>
          </a:solidFill>
          <a:ln w="9525">
            <a:solidFill>
              <a:srgbClr val="D5E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08392" y="1572768"/>
            <a:ext cx="356616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mer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153" y="1732788"/>
            <a:ext cx="538316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22792" y="1591056"/>
            <a:ext cx="25146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173039"/>
                </a:solidFill>
                <a:latin typeface="Arial"/>
              </a:rPr>
              <a:t>מצלמה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מצלמת USB (יעד: מצלמת Pi)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1572768"/>
            <a:ext cx="356616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ic_wa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593" y="1732788"/>
            <a:ext cx="553452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28800" y="1591056"/>
            <a:ext cx="25146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173039"/>
                </a:solidFill>
                <a:latin typeface="Arial"/>
              </a:rPr>
              <a:t>מיקרופון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המיקרופון של מצלמת ה-USB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6952" y="2697480"/>
            <a:ext cx="3749039" cy="1024128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_white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453" y="2926079"/>
            <a:ext cx="600276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68512" y="2715768"/>
            <a:ext cx="2606040" cy="9875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FFFFFF"/>
                </a:solidFill>
                <a:latin typeface="Arial"/>
              </a:rPr>
              <a:t>ערוץ סימנים</a:t>
            </a:r>
          </a:p>
          <a:p>
            <a:pPr algn="r" rtl="1">
              <a:lnSpc>
                <a:spcPct val="100000"/>
              </a:lnSpc>
            </a:pPr>
            <a:r>
              <a:rPr sz="1500" b="1" lang="en-US">
                <a:solidFill>
                  <a:srgbClr val="FFFFFF"/>
                </a:solidFill>
                <a:latin typeface="Arial"/>
              </a:rPr>
              <a:t>MediaPipe + GRU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FFFFFF"/>
                </a:solidFill>
                <a:latin typeface="Arial"/>
              </a:rPr>
              <a:t>זיהוי שפת סימנים והמרה לטקסט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2697480"/>
            <a:ext cx="3749039" cy="1024128"/>
          </a:xfrm>
          <a:prstGeom prst="roundRect">
            <a:avLst>
              <a:gd name="adj" fmla="val 7000"/>
            </a:avLst>
          </a:prstGeom>
          <a:solidFill>
            <a:srgbClr val="DA5B35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ave_white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871" y="2926079"/>
            <a:ext cx="635457" cy="566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74519" y="2715768"/>
            <a:ext cx="2606040" cy="9875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FFFFFF"/>
                </a:solidFill>
                <a:latin typeface="Arial"/>
              </a:rPr>
              <a:t>ערוץ דיבור</a:t>
            </a:r>
          </a:p>
          <a:p>
            <a:pPr algn="r" rtl="1">
              <a:lnSpc>
                <a:spcPct val="100000"/>
              </a:lnSpc>
            </a:pPr>
            <a:r>
              <a:rPr sz="1500" b="1" lang="en-US">
                <a:solidFill>
                  <a:srgbClr val="FFFFFF"/>
                </a:solidFill>
                <a:latin typeface="Arial"/>
              </a:rPr>
              <a:t>Vosk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FFFFFF"/>
                </a:solidFill>
                <a:latin typeface="Arial"/>
              </a:rPr>
              <a:t>זיהוי דיבור והמרה לטקסט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91472" y="2350008"/>
            <a:ext cx="0" cy="347472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97480" y="2350008"/>
            <a:ext cx="0" cy="347472"/>
          </a:xfrm>
          <a:prstGeom prst="line">
            <a:avLst/>
          </a:prstGeom>
          <a:ln w="25400">
            <a:solidFill>
              <a:srgbClr val="DA5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69080" y="4069080"/>
            <a:ext cx="4050791" cy="777240"/>
          </a:xfrm>
          <a:prstGeom prst="roundRect">
            <a:avLst>
              <a:gd name="adj" fmla="val 7000"/>
            </a:avLst>
          </a:prstGeom>
          <a:solidFill>
            <a:srgbClr val="0E3A44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oc_white_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6945" y="4219956"/>
            <a:ext cx="410108" cy="4754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37760" y="4087368"/>
            <a:ext cx="30632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he-IL">
                <a:solidFill>
                  <a:srgbClr val="FFFFFF"/>
                </a:solidFill>
                <a:latin typeface="Arial"/>
              </a:rPr>
              <a:t>אפליקציית מסך מגע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CFE6E8"/>
                </a:solidFill>
                <a:latin typeface="Arial"/>
              </a:rPr>
              <a:t>ערוץ אחד פעיל, מעבר בנגיעה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97480" y="3721608"/>
            <a:ext cx="0" cy="164592"/>
          </a:xfrm>
          <a:prstGeom prst="line">
            <a:avLst/>
          </a:prstGeom>
          <a:ln w="25400">
            <a:solidFill>
              <a:srgbClr val="DA5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97480" y="3886200"/>
            <a:ext cx="2240280" cy="0"/>
          </a:xfrm>
          <a:prstGeom prst="line">
            <a:avLst/>
          </a:prstGeom>
          <a:ln w="25400">
            <a:solidFill>
              <a:srgbClr val="DA5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937760" y="3886200"/>
            <a:ext cx="0" cy="182880"/>
          </a:xfrm>
          <a:prstGeom prst="line">
            <a:avLst/>
          </a:prstGeom>
          <a:ln w="25400">
            <a:solidFill>
              <a:srgbClr val="DA5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91472" y="3721608"/>
            <a:ext cx="0" cy="164592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251192" y="3886200"/>
            <a:ext cx="224028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251192" y="3886200"/>
            <a:ext cx="0" cy="18288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fo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2447" y="5303520"/>
            <a:ext cx="427121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57488" y="5193792"/>
            <a:ext cx="2645664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173039"/>
                </a:solidFill>
                <a:latin typeface="Arial"/>
              </a:rPr>
              <a:t>ניצול כל ארבע הליבות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עיבוד מקבילי עם multiprocessing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43088" y="5230368"/>
            <a:ext cx="0" cy="621792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gear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0183" y="5303520"/>
            <a:ext cx="457200" cy="4572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160263" y="5193792"/>
            <a:ext cx="2645664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173039"/>
                </a:solidFill>
                <a:latin typeface="Arial"/>
              </a:rPr>
              <a:t>תהליכים נפרדים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תנוחה וידיים רצים במקביל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245863" y="5230368"/>
            <a:ext cx="0" cy="621792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09" y="5303520"/>
            <a:ext cx="419100" cy="4572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63039" y="5193792"/>
            <a:ext cx="2645664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173039"/>
                </a:solidFill>
                <a:latin typeface="Arial"/>
              </a:rPr>
              <a:t>שני ערוצים עצמאיים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חולקים רק תצורה ותור משותף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4735" y="566928"/>
            <a:ext cx="9144000" cy="6217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ערוץ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הסימנים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lang="en-US" sz="3800" b="1" i="0" dirty="0">
                <a:solidFill>
                  <a:srgbClr val="173039"/>
                </a:solidFill>
                <a:latin typeface="Arial"/>
              </a:rPr>
              <a:t>-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תפיסה</a:t>
            </a:r>
            <a:endParaRPr sz="3800" b="1" i="0" dirty="0">
              <a:solidFill>
                <a:srgbClr val="173039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60020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mer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254" y="1865376"/>
            <a:ext cx="663426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0888" y="1709928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 lang="he-IL">
                <a:solidFill>
                  <a:srgbClr val="173039"/>
                </a:solidFill>
                <a:latin typeface="Arial"/>
              </a:rPr>
              <a:t>מצלמה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וידאו בזמן אמת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60020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p_white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261" y="1865376"/>
            <a:ext cx="597572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58968" y="1709928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 lang="en-US">
                <a:solidFill>
                  <a:srgbClr val="FFFFFF"/>
                </a:solidFill>
                <a:latin typeface="Arial"/>
              </a:rPr>
              <a:t>MediaPipe lite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FFFFFF"/>
                </a:solidFill>
                <a:latin typeface="Arial"/>
              </a:rPr>
              <a:t>ידיים ותנוחה במקביל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60020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57" y="1865376"/>
            <a:ext cx="466140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27048" y="1709928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400" b="1" lang="en-US">
                <a:solidFill>
                  <a:srgbClr val="173039"/>
                </a:solidFill>
                <a:latin typeface="Arial"/>
              </a:rPr>
              <a:t>153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ערכים בכל פריים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909560" y="2148840"/>
            <a:ext cx="310896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977639" y="2148840"/>
            <a:ext cx="310897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9768" y="3063240"/>
            <a:ext cx="11338560" cy="26974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429000" y="3291840"/>
            <a:ext cx="0" cy="224028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bulb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460" y="3520440"/>
            <a:ext cx="717846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389120"/>
            <a:ext cx="2743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פחות חישוב,</a:t>
            </a:r>
          </a:p>
          <a:p>
            <a:pPr algn="ct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יותר מידע רלוונטי.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291840"/>
            <a:ext cx="7863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he-IL">
                <a:solidFill>
                  <a:srgbClr val="173039"/>
                </a:solidFill>
                <a:latin typeface="Arial"/>
              </a:rPr>
              <a:t>הפנים לא נכנסות לייצוג - לפרטיות ויעילות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931920"/>
            <a:ext cx="78638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מזהים רק את שתי כפות הידיים ואת תנוחת פלג הגוף העליון - לא את הפנים.</a:t>
            </a:r>
          </a:p>
          <a:p>
            <a:pPr algn="r" rtl="1">
              <a:lnSpc>
                <a:spcPct val="12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כך אנחנו שומרים על פרטיות, מפחיתים עומס חישוב,</a:t>
            </a:r>
          </a:p>
          <a:p>
            <a:pPr algn="r" rtl="1">
              <a:lnSpc>
                <a:spcPct val="12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ובכל זאת מקבלים את כל המידע הנדרש לזיהוי הסימן.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9282" y="50888"/>
            <a:ext cx="73152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ייצוג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התנועה</a:t>
            </a:r>
            <a:endParaRPr sz="3800" b="1" i="0" dirty="0">
              <a:solidFill>
                <a:srgbClr val="173039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960120"/>
            <a:ext cx="361188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ands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206176"/>
            <a:ext cx="1024127" cy="6051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73184" y="1033272"/>
            <a:ext cx="2148840" cy="9509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en-US">
                <a:solidFill>
                  <a:srgbClr val="0E7C86"/>
                </a:solidFill>
                <a:latin typeface="Arial"/>
              </a:rPr>
              <a:t>126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ערכים משתי כפות הידיים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960120"/>
            <a:ext cx="361188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289" y="1188719"/>
            <a:ext cx="606093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14416" y="1033272"/>
            <a:ext cx="2148840" cy="9509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en-US">
                <a:solidFill>
                  <a:srgbClr val="0E7C86"/>
                </a:solidFill>
                <a:latin typeface="Arial"/>
              </a:rPr>
              <a:t>27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ערכים מפלג הגוף העליון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960120"/>
            <a:ext cx="3611880" cy="1097280"/>
          </a:xfrm>
          <a:prstGeom prst="roundRect">
            <a:avLst>
              <a:gd name="adj" fmla="val 7000"/>
            </a:avLst>
          </a:prstGeom>
          <a:solidFill>
            <a:srgbClr val="0E3A44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ars_white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32" y="1188719"/>
            <a:ext cx="60767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55648" y="1033272"/>
            <a:ext cx="2148840" cy="9509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000" b="1" lang="en-US">
                <a:solidFill>
                  <a:srgbClr val="FFFFFF"/>
                </a:solidFill>
                <a:latin typeface="Arial"/>
              </a:rPr>
              <a:t>153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CFE6E8"/>
                </a:solidFill>
                <a:latin typeface="Arial"/>
              </a:rPr>
              <a:t>ממדים בכל פריים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2286000"/>
            <a:ext cx="11338560" cy="3977639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d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395728"/>
            <a:ext cx="3386229" cy="3749039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4160520" y="2514600"/>
            <a:ext cx="0" cy="352044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9120" y="2468880"/>
            <a:ext cx="7178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he-IL">
                <a:solidFill>
                  <a:srgbClr val="173039"/>
                </a:solidFill>
                <a:latin typeface="Arial"/>
              </a:rPr>
              <a:t>נורמליזציה חסינה למרחק ולמיקום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17520"/>
            <a:ext cx="71780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ממרכזים את הנקודות סביב הגוף - בידיים, בכתפיים ובאף - אשר זזות יחד עם האובייקט, כך שלא משנה איפה עומדים או כמה רחוקים מהמצלמה. יד שלא מזוהה מיוצגת באפסים.</a:t>
            </a:r>
          </a:p>
        </p:txBody>
      </p:sp>
      <p:sp>
        <p:nvSpPr>
          <p:cNvPr id="29" name="Oval 28"/>
          <p:cNvSpPr/>
          <p:nvPr/>
        </p:nvSpPr>
        <p:spPr>
          <a:xfrm>
            <a:off x="10005059" y="4297680"/>
            <a:ext cx="731520" cy="731520"/>
          </a:xfrm>
          <a:prstGeom prst="ellipse">
            <a:avLst/>
          </a:prstGeom>
          <a:solidFill>
            <a:srgbClr val="E1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ye_o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8689" y="4471416"/>
            <a:ext cx="404261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20199" y="5120640"/>
            <a:ext cx="2301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 lang="he-IL">
                <a:solidFill>
                  <a:srgbClr val="173039"/>
                </a:solidFill>
                <a:latin typeface="Arial"/>
              </a:rPr>
              <a:t>יד שלא מזוהה</a:t>
            </a:r>
          </a:p>
          <a:p>
            <a:pPr algn="ct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מיוצגת באפסים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74479" y="4343400"/>
            <a:ext cx="0" cy="155448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612379" y="4297680"/>
            <a:ext cx="731520" cy="731520"/>
          </a:xfrm>
          <a:prstGeom prst="ellipse">
            <a:avLst/>
          </a:prstGeom>
          <a:solidFill>
            <a:srgbClr val="E1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xpa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112" y="4471416"/>
            <a:ext cx="432054" cy="3840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27519" y="5120640"/>
            <a:ext cx="2301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 lang="he-IL">
                <a:solidFill>
                  <a:srgbClr val="173039"/>
                </a:solidFill>
                <a:latin typeface="Arial"/>
              </a:rPr>
              <a:t>לא משנה כמה רחוקים</a:t>
            </a:r>
          </a:p>
          <a:p>
            <a:pPr algn="ct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חסינות למרחק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81799" y="4343400"/>
            <a:ext cx="0" cy="155448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219699" y="4297680"/>
            <a:ext cx="731520" cy="731520"/>
          </a:xfrm>
          <a:prstGeom prst="ellipse">
            <a:avLst/>
          </a:prstGeom>
          <a:solidFill>
            <a:srgbClr val="E1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2638" y="4471416"/>
            <a:ext cx="345643" cy="3840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34839" y="5120640"/>
            <a:ext cx="2301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 lang="he-IL">
                <a:solidFill>
                  <a:srgbClr val="173039"/>
                </a:solidFill>
                <a:latin typeface="Arial"/>
              </a:rPr>
              <a:t>לא משנה איפה עומדים</a:t>
            </a:r>
          </a:p>
          <a:p>
            <a:pPr algn="ct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חסינות למיקום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3535" y="566928"/>
            <a:ext cx="73152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FFFFFF"/>
                </a:solidFill>
                <a:latin typeface="Arial"/>
              </a:rPr>
              <a:t>המודל הזמני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135" y="1600200"/>
            <a:ext cx="1051560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000" b="0" i="0" dirty="0" err="1" lang="he-IL">
                <a:solidFill>
                  <a:srgbClr val="CFE6E8"/>
                </a:solidFill>
                <a:latin typeface="Arial"/>
              </a:rPr>
              <a:t>כל סימן הוא 1.47 שניות של תנועה, שנדגמות מחדש ל-45 צעדים - בכל קצב פריימים.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2468880"/>
            <a:ext cx="2743200" cy="914400"/>
          </a:xfrm>
          <a:prstGeom prst="roundRect">
            <a:avLst>
              <a:gd name="adj" fmla="val 5500"/>
            </a:avLst>
          </a:prstGeom>
          <a:solidFill>
            <a:srgbClr val="134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28431" y="2468880"/>
            <a:ext cx="2596896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1" i="0" lang="he-IL">
                <a:solidFill>
                  <a:srgbClr val="CFE6E8"/>
                </a:solidFill>
                <a:latin typeface="Arial"/>
              </a:rPr>
              <a:t>חלון זמן</a:t>
            </a:r>
          </a:p>
          <a:p>
            <a:pPr algn="ctr" rtl="1">
              <a:lnSpc>
                <a:spcPct val="100000"/>
              </a:lnSpc>
            </a:pPr>
            <a:r>
              <a:rPr sz="1500" b="1" i="0" lang="he-IL">
                <a:solidFill>
                  <a:srgbClr val="CFE6E8"/>
                </a:solidFill>
                <a:latin typeface="Arial"/>
              </a:rPr>
              <a:t>45 צעדים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468880"/>
            <a:ext cx="2651760" cy="914400"/>
          </a:xfrm>
          <a:prstGeom prst="roundRect">
            <a:avLst>
              <a:gd name="adj" fmla="val 55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65192" y="2468880"/>
            <a:ext cx="2505456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600" b="1" i="0" lang="en-US">
                <a:solidFill>
                  <a:srgbClr val="FFFFFF"/>
                </a:solidFill>
                <a:latin typeface="Arial"/>
              </a:rPr>
              <a:t>GRU</a:t>
            </a:r>
          </a:p>
          <a:p>
            <a:pPr algn="ctr" rtl="1">
              <a:lnSpc>
                <a:spcPct val="100000"/>
              </a:lnSpc>
            </a:pPr>
            <a:r>
              <a:rPr sz="1600" b="1" i="0" lang="he-IL">
                <a:solidFill>
                  <a:srgbClr val="FFFFFF"/>
                </a:solidFill>
                <a:latin typeface="Arial"/>
              </a:rPr>
              <a:t>מודל רצף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468880"/>
            <a:ext cx="2377440" cy="914400"/>
          </a:xfrm>
          <a:prstGeom prst="roundRect">
            <a:avLst>
              <a:gd name="adj" fmla="val 55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2468880"/>
            <a:ext cx="2231136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700" b="1" i="0" lang="he-IL">
                <a:solidFill>
                  <a:srgbClr val="FFFFFF"/>
                </a:solidFill>
                <a:latin typeface="Arial"/>
              </a:rPr>
              <a:t>מילה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589520" y="2926080"/>
            <a:ext cx="274320" cy="0"/>
          </a:xfrm>
          <a:prstGeom prst="line">
            <a:avLst/>
          </a:prstGeom>
          <a:ln w="22225">
            <a:solidFill>
              <a:srgbClr val="4FA3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617720" y="2926080"/>
            <a:ext cx="182880" cy="0"/>
          </a:xfrm>
          <a:prstGeom prst="line">
            <a:avLst/>
          </a:prstGeom>
          <a:ln w="22225">
            <a:solidFill>
              <a:srgbClr val="4FA3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411480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&lt; 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9377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0" i="0" lang="he-IL">
                <a:solidFill>
                  <a:srgbClr val="9FC0C4"/>
                </a:solidFill>
                <a:latin typeface="Arial"/>
              </a:rPr>
              <a:t>פרמטרים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411480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INT8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9377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0" i="0" lang="he-IL">
                <a:solidFill>
                  <a:srgbClr val="9FC0C4"/>
                </a:solidFill>
                <a:latin typeface="Arial"/>
              </a:rPr>
              <a:t>קוונטיזציה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79" y="4114800"/>
            <a:ext cx="27432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XNNPACK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79" y="49377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500" b="0" i="0" lang="he-IL">
                <a:solidFill>
                  <a:srgbClr val="9FC0C4"/>
                </a:solidFill>
                <a:latin typeface="Arial"/>
              </a:rPr>
              <a:t>מנוע הרצה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C0C4"/>
                </a:solidFill>
                <a:latin typeface="Arial"/>
              </a:rPr>
              <a:t>Senseless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3535" y="566928"/>
            <a:ext cx="7315200" cy="6217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ערוץ</a:t>
            </a:r>
            <a:r>
              <a:rPr sz="3800" b="1" i="0" dirty="0" lang="en-US">
                <a:solidFill>
                  <a:srgbClr val="173039"/>
                </a:solidFill>
                <a:latin typeface="Arial"/>
              </a:rPr>
              <a:t> </a:t>
            </a:r>
            <a:r>
              <a:rPr sz="3800" b="1" i="0" dirty="0" err="1" lang="he-IL">
                <a:solidFill>
                  <a:srgbClr val="173039"/>
                </a:solidFill>
                <a:latin typeface="Arial"/>
              </a:rPr>
              <a:t>הדיבור</a:t>
            </a:r>
            <a:endParaRPr sz="3800" b="1" i="0" dirty="0">
              <a:solidFill>
                <a:srgbClr val="173039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3608" y="155448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c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3784" y="1819655"/>
            <a:ext cx="38836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90888" y="1664207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 lang="he-IL">
                <a:solidFill>
                  <a:srgbClr val="173039"/>
                </a:solidFill>
                <a:latin typeface="Arial"/>
              </a:rPr>
              <a:t>מיקרופון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קלט אודיו חי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55448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DA5B35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ve_white_o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843" y="1819655"/>
            <a:ext cx="524408" cy="5669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58968" y="1664207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200" b="1" lang="en-US">
                <a:solidFill>
                  <a:srgbClr val="FFFFFF"/>
                </a:solidFill>
                <a:latin typeface="Arial"/>
              </a:rPr>
              <a:t>Vosk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FFFFFF"/>
                </a:solidFill>
                <a:latin typeface="Arial"/>
              </a:rPr>
              <a:t>מודל אופליין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1554480"/>
            <a:ext cx="3474720" cy="10972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37" y="1819655"/>
            <a:ext cx="492980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7048" y="1664207"/>
            <a:ext cx="2194560" cy="8778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000" b="1" lang="he-IL">
                <a:solidFill>
                  <a:srgbClr val="173039"/>
                </a:solidFill>
                <a:latin typeface="Arial"/>
              </a:rPr>
              <a:t>תמלול זורם</a:t>
            </a:r>
          </a:p>
          <a:p>
            <a:pPr algn="r" rtl="1">
              <a:lnSpc>
                <a:spcPct val="105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חלקי + סופי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909560" y="2103120"/>
            <a:ext cx="310896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77639" y="2103120"/>
            <a:ext cx="310897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9768" y="3017520"/>
            <a:ext cx="11338560" cy="26974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ifi_sl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7563" y="3360420"/>
            <a:ext cx="842010" cy="7772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80248" y="4343400"/>
            <a:ext cx="359664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הכול מקומי</a:t>
            </a:r>
          </a:p>
          <a:p>
            <a:pPr algn="ctr" rtl="1">
              <a:lnSpc>
                <a:spcPct val="110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בלי אינטרנט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88808" y="3291840"/>
            <a:ext cx="0" cy="214884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7583" y="3360420"/>
            <a:ext cx="582930" cy="7772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00728" y="4343400"/>
            <a:ext cx="359664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תוצאות מופיעות תוך כדי דיבור</a:t>
            </a:r>
          </a:p>
          <a:p>
            <a:pPr algn="ctr" rtl="1">
              <a:lnSpc>
                <a:spcPct val="110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תגובה מהירה ובזמן אמת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09288" y="3291840"/>
            <a:ext cx="0" cy="2148840"/>
          </a:xfrm>
          <a:prstGeom prst="line">
            <a:avLst/>
          </a:prstGeom>
          <a:ln w="12700">
            <a:solidFill>
              <a:srgbClr val="D5E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gear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908" y="3360420"/>
            <a:ext cx="777239" cy="7772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1208" y="4343400"/>
            <a:ext cx="359664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מנותק לגמרי מערוץ הסימנים</a:t>
            </a:r>
          </a:p>
          <a:p>
            <a:pPr algn="ctr" rtl="1">
              <a:lnSpc>
                <a:spcPct val="110000"/>
              </a:lnSpc>
            </a:pPr>
            <a:r>
              <a:rPr sz="1500" b="0" lang="he-IL">
                <a:solidFill>
                  <a:srgbClr val="56666E"/>
                </a:solidFill>
                <a:latin typeface="Arial"/>
              </a:rPr>
              <a:t>עובד באופן עצמאי, בתהליך משלו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זמן אמת, מקומי ופרטי</a:t>
            </a:r>
          </a:p>
        </p:txBody>
      </p:sp>
      <p:sp>
        <p:nvSpPr>
          <p:cNvPr id="3" name="Oval 2"/>
          <p:cNvSpPr/>
          <p:nvPr/>
        </p:nvSpPr>
        <p:spPr>
          <a:xfrm>
            <a:off x="10820095" y="2002536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81935" y="1965960"/>
            <a:ext cx="7863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1" i="0" lang="he-IL">
                <a:solidFill>
                  <a:srgbClr val="173039"/>
                </a:solidFill>
                <a:latin typeface="Arial"/>
              </a:rPr>
              <a:t>מקבילות אמיתית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1935" y="2514600"/>
            <a:ext cx="78638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i="0" dirty="0" err="1" lang="he-IL">
                <a:latin typeface="Arial"/>
              </a:rPr>
              <a:t>מודלי התנוחה והידיים רצים בשני תהליכים במקביל - 6.5-7.5 פריימים לשנייה על ה-Pi.</a:t>
            </a:r>
          </a:p>
        </p:txBody>
      </p:sp>
      <p:sp>
        <p:nvSpPr>
          <p:cNvPr id="6" name="Oval 5"/>
          <p:cNvSpPr/>
          <p:nvPr/>
        </p:nvSpPr>
        <p:spPr>
          <a:xfrm>
            <a:off x="10820095" y="3328415"/>
            <a:ext cx="548640" cy="548640"/>
          </a:xfrm>
          <a:prstGeom prst="ellipse">
            <a:avLst/>
          </a:prstGeom>
          <a:solidFill>
            <a:srgbClr val="4FA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81935" y="3291839"/>
            <a:ext cx="7863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1" i="0" lang="he-IL">
                <a:solidFill>
                  <a:srgbClr val="173039"/>
                </a:solidFill>
                <a:latin typeface="Arial"/>
              </a:rPr>
              <a:t>השהיה חסומה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1935" y="3840479"/>
            <a:ext cx="78638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0" i="0" dirty="0" err="1" lang="he-IL">
                <a:latin typeface="Arial"/>
              </a:rPr>
              <a:t>תורים חסומים במדיניות "זרוק ישן" - תמיד מעבדים את המידע הטרי ביותר.</a:t>
            </a:r>
          </a:p>
        </p:txBody>
      </p:sp>
      <p:sp>
        <p:nvSpPr>
          <p:cNvPr id="9" name="Oval 8"/>
          <p:cNvSpPr/>
          <p:nvPr/>
        </p:nvSpPr>
        <p:spPr>
          <a:xfrm>
            <a:off x="10820095" y="4654296"/>
            <a:ext cx="548640" cy="548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81935" y="4617720"/>
            <a:ext cx="78638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1" i="0" lang="he-IL">
                <a:solidFill>
                  <a:srgbClr val="173039"/>
                </a:solidFill>
                <a:latin typeface="Arial"/>
              </a:rPr>
              <a:t>פרטי מהיסוד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1935" y="5166359"/>
            <a:ext cx="78638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0" i="0" dirty="0" err="1" lang="he-IL">
                <a:latin typeface="Arial"/>
              </a:rPr>
              <a:t>בלי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ענן</a:t>
            </a:r>
            <a:r>
              <a:rPr sz="1600" b="0" i="0" dirty="0" lang="en-US">
                <a:latin typeface="Arial"/>
              </a:rPr>
              <a:t>, </a:t>
            </a:r>
            <a:r>
              <a:rPr sz="1600" b="0" i="0" dirty="0" err="1" lang="he-IL">
                <a:latin typeface="Arial"/>
              </a:rPr>
              <a:t>בלי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זיהוי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פנים</a:t>
            </a:r>
            <a:r>
              <a:rPr sz="1600" b="0" i="0" dirty="0" lang="en-US">
                <a:latin typeface="Arial"/>
              </a:rPr>
              <a:t>, </a:t>
            </a:r>
            <a:r>
              <a:rPr sz="1600" b="0" i="0" dirty="0" err="1" lang="he-IL">
                <a:latin typeface="Arial"/>
              </a:rPr>
              <a:t>בלי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שליחת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וידאו</a:t>
            </a:r>
            <a:r>
              <a:rPr sz="1600" b="0" i="0" dirty="0" lang="en-US">
                <a:latin typeface="Arial"/>
              </a:rPr>
              <a:t> </a:t>
            </a:r>
            <a:r>
              <a:rPr lang="en-US" sz="1600" b="0" i="0" dirty="0">
                <a:latin typeface="Arial"/>
              </a:rPr>
              <a:t>-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הכול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נשאר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על</a:t>
            </a:r>
            <a:r>
              <a:rPr sz="1600" b="0" i="0" dirty="0" lang="en-US">
                <a:latin typeface="Arial"/>
              </a:rPr>
              <a:t> </a:t>
            </a:r>
            <a:r>
              <a:rPr sz="1600" b="0" i="0" dirty="0" err="1" lang="he-IL">
                <a:latin typeface="Arial"/>
              </a:rPr>
              <a:t>המכשיר</a:t>
            </a:r>
            <a:r>
              <a:rPr sz="1600" b="0" i="0" dirty="0" lang="en-US"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אפליקציית מסך המגע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מסך 7 אינץ' שנדלק ישר לאפליקציה - בלי מקלדת, עכבר או טרמינל.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029968"/>
            <a:ext cx="5221224" cy="31912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_app_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074920" cy="3044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5285232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173039"/>
                </a:solidFill>
                <a:latin typeface="Arial"/>
              </a:rPr>
              <a:t>מצב סימנים: המילה, המשפט, Undo ו-Clear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029968"/>
            <a:ext cx="5221224" cy="31912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_app_spe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03120"/>
            <a:ext cx="5074920" cy="3044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5285232"/>
            <a:ext cx="5074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173039"/>
                </a:solidFill>
                <a:latin typeface="Arial"/>
              </a:rPr>
              <a:t>מצב דיבור: תמלול חי ודמות שמסמנת מילים מהאוצר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80644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ערוץ אחד פעיל בכל פעם  ·  מעבר בנגיעה  ·  הודעת שגיאה עם "נסה שוב"  ·  הדמות מסמנת 144 מילים: 49 שלנו ו-95 מ-MS-ASL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3535" y="566928"/>
            <a:ext cx="73152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מהנתונים למודל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15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8B6BB9EE-229C-3DAE-1B21-FC3755875668}"/>
              </a:ext>
            </a:extLst>
          </p:cNvPr>
          <p:cNvSpPr txBox="1"/>
          <p:nvPr/>
        </p:nvSpPr>
        <p:spPr>
          <a:xfrm>
            <a:off x="955040" y="3942080"/>
            <a:ext cx="1030224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b="1" lang="he-IL"/>
              <a:t>אוצר מילים מבוקר</a:t>
            </a:r>
            <a:r>
              <a:rPr b="0" lang="he-IL"/>
              <a:t> - 49 מילים מאומנות ועוד IDLE, מתוך יעד של 50 מילים</a:t>
            </a:r>
            <a:endParaRPr lang="he-IL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b="1" lang="he-IL"/>
              <a:t>הקלטות מה-Pi + אוגמנטציה</a:t>
            </a:r>
            <a:r>
              <a:rPr b="0" lang="he-IL"/>
              <a:t> - 10 הקלטות לכל מילה על ה-Pi, ועותקים שמדמים את המצלמה ואת מודל הידיים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b="1" lang="he-IL"/>
              <a:t>ה-Pi הינו מכשיר הסקה בלבד</a:t>
            </a:r>
            <a:r>
              <a:rPr b="0" lang="he-IL"/>
              <a:t> - האימון תמיד במחשב או ב-Colab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5498" y="1600200"/>
            <a:ext cx="2514600" cy="14630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440" y="2034539"/>
            <a:ext cx="504514" cy="594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86746" y="1691640"/>
            <a:ext cx="1581912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איסוף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כלי הקלטה ייעודי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50 במחשב + 10 על ה-Pi לכל מילה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882481" y="2331720"/>
            <a:ext cx="299009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03873" y="1600200"/>
            <a:ext cx="2514600" cy="14630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66" y="2034539"/>
            <a:ext cx="753414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45121" y="1691640"/>
            <a:ext cx="1581912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אימון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GRU + אוגמנטציה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במחשב או ב-Colab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5940856" y="2331720"/>
            <a:ext cx="299009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62248" y="1600200"/>
            <a:ext cx="2514600" cy="14630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gear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590" y="2034539"/>
            <a:ext cx="565716" cy="594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203496" y="1691640"/>
            <a:ext cx="1581912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קוונטיזציה</a:t>
            </a:r>
          </a:p>
          <a:p>
            <a:pPr algn="r" rtl="1">
              <a:lnSpc>
                <a:spcPct val="110000"/>
              </a:lnSpc>
            </a:pPr>
            <a:r>
              <a:rPr sz="1300" b="0" lang="en-US">
                <a:solidFill>
                  <a:srgbClr val="56666E"/>
                </a:solidFill>
                <a:latin typeface="Arial"/>
              </a:rPr>
              <a:t>INT8</a:t>
            </a:r>
          </a:p>
          <a:p>
            <a:pPr algn="r" rtl="1">
              <a:lnSpc>
                <a:spcPct val="110000"/>
              </a:lnSpc>
            </a:pPr>
            <a:r>
              <a:rPr sz="1300" b="0" lang="en-US">
                <a:solidFill>
                  <a:srgbClr val="56666E"/>
                </a:solidFill>
                <a:latin typeface="Arial"/>
              </a:rPr>
              <a:t>TFLite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999232" y="2331720"/>
            <a:ext cx="299008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20624" y="1600200"/>
            <a:ext cx="2514600" cy="14630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h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945" y="2034539"/>
            <a:ext cx="587756" cy="5943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61872" y="1691640"/>
            <a:ext cx="1581912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00" b="1" lang="he-IL">
                <a:solidFill>
                  <a:srgbClr val="173039"/>
                </a:solidFill>
                <a:latin typeface="Arial"/>
              </a:rPr>
              <a:t>פריסה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ה-Pi הינו מכשיר</a:t>
            </a:r>
          </a:p>
          <a:p>
            <a:pPr algn="r" rtl="1">
              <a:lnSpc>
                <a:spcPct val="11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הסקה בלבד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מה למדנו מה-Pi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מודל שעבד מצוין במחשב כמעט לא זיהה כלום על ה-Pi - עד שהתאמנו לתנאים שלו.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0116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084831"/>
            <a:ext cx="324612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400" b="1" lang="en-US">
                <a:solidFill>
                  <a:srgbClr val="0E3A44"/>
                </a:solidFill>
                <a:latin typeface="Arial"/>
              </a:rPr>
              <a:t>2.7-4.4 FPS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0E3A44"/>
                </a:solidFill>
                <a:latin typeface="Arial"/>
              </a:rPr>
              <a:t>מודלים רגילים, אחד אחרי השני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20116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084831"/>
            <a:ext cx="324612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400" b="1" lang="en-US">
                <a:solidFill>
                  <a:srgbClr val="FFFFFF"/>
                </a:solidFill>
                <a:latin typeface="Arial"/>
              </a:rPr>
              <a:t>6.5-7.5 FPS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FFFFFF"/>
                </a:solidFill>
                <a:latin typeface="Arial"/>
              </a:rPr>
              <a:t>מודלים קלים, תנוחה וידיים במקביל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462272" y="2628900"/>
            <a:ext cx="3264407" cy="0"/>
          </a:xfrm>
          <a:prstGeom prst="line">
            <a:avLst/>
          </a:prstGeom>
          <a:ln w="25400">
            <a:solidFill>
              <a:srgbClr val="DA5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2240280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תפיסה מקבילית + זיכרון משותף</a:t>
            </a:r>
          </a:p>
        </p:txBody>
      </p:sp>
      <p:sp>
        <p:nvSpPr>
          <p:cNvPr id="20" name="Oval 19"/>
          <p:cNvSpPr/>
          <p:nvPr/>
        </p:nvSpPr>
        <p:spPr>
          <a:xfrm>
            <a:off x="11018520" y="3721608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61188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חלון מבוסס זמן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1.47 שניות שנדגמות מחדש ל-45 צעדים - המודל רואה את אותה מהירות תנועה בכל קצב פריימים.</a:t>
            </a:r>
          </a:p>
        </p:txBody>
      </p:sp>
      <p:sp>
        <p:nvSpPr>
          <p:cNvPr id="22" name="Oval 21"/>
          <p:cNvSpPr/>
          <p:nvPr/>
        </p:nvSpPr>
        <p:spPr>
          <a:xfrm>
            <a:off x="11018520" y="4590288"/>
            <a:ext cx="384048" cy="384048"/>
          </a:xfrm>
          <a:prstGeom prst="ellipse">
            <a:avLst/>
          </a:prstGeom>
          <a:solidFill>
            <a:srgbClr val="4FA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8056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אוגמנטציה, ואז הקלטות מה-Pi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האימון מדמה מצלמה איטית ומודל ידיים קל. זה הספיק ל-16 מילים; לאוצר המילים המלא נדרשו הקלטות מה-Pi (השקף הבא).</a:t>
            </a:r>
          </a:p>
        </p:txBody>
      </p:sp>
      <p:sp>
        <p:nvSpPr>
          <p:cNvPr id="24" name="Oval 23"/>
          <p:cNvSpPr/>
          <p:nvPr/>
        </p:nvSpPr>
        <p:spPr>
          <a:xfrm>
            <a:off x="11018520" y="5458968"/>
            <a:ext cx="384048" cy="384048"/>
          </a:xfrm>
          <a:prstGeom prst="ellipse">
            <a:avLst/>
          </a:prstGeom>
          <a:solidFill>
            <a:srgbClr val="DA5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34924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מצב התחלה (onset)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חלון אחד לכל סימן, בדיוק כמו בהקלטה - בלי הבהובים. בהדמיה: 356 מתוך 377 סימנים נכונים ב-7 FPS.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הקלטות מה-Pi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10 הקלטות לכל מילה על ה-Pi עצמו סגרו את הפער שההדמיות לא הצליחו לסגור.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0116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084831"/>
            <a:ext cx="324612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400" b="1" lang="en-US">
                <a:solidFill>
                  <a:srgbClr val="0E3A44"/>
                </a:solidFill>
                <a:latin typeface="Arial"/>
              </a:rPr>
              <a:t>37.6%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0E3A44"/>
                </a:solidFill>
                <a:latin typeface="Arial"/>
              </a:rPr>
              <a:t>אימון על הקלטות מחשב בלבד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2011680"/>
            <a:ext cx="3520440" cy="123444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084831"/>
            <a:ext cx="3246120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3400" b="1" lang="en-US">
                <a:solidFill>
                  <a:srgbClr val="FFFFFF"/>
                </a:solidFill>
                <a:latin typeface="Arial"/>
              </a:rPr>
              <a:t>90.0%</a:t>
            </a:r>
          </a:p>
          <a:p>
            <a:pPr algn="ctr" rtl="1">
              <a:lnSpc>
                <a:spcPct val="100000"/>
              </a:lnSpc>
            </a:pPr>
            <a:r>
              <a:rPr sz="1400" b="0" lang="he-IL">
                <a:solidFill>
                  <a:srgbClr val="FFFFFF"/>
                </a:solidFill>
                <a:latin typeface="Arial"/>
              </a:rPr>
              <a:t>עם הקלטות Pi ואוגמנטציה דמוית Pi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462272" y="2628900"/>
            <a:ext cx="3264407" cy="0"/>
          </a:xfrm>
          <a:prstGeom prst="line">
            <a:avLst/>
          </a:prstGeom>
          <a:ln w="25400">
            <a:solidFill>
              <a:srgbClr val="DA5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2240280"/>
            <a:ext cx="3063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דיוק על הקלטות Pi שהמודל לא ראה</a:t>
            </a:r>
          </a:p>
        </p:txBody>
      </p:sp>
      <p:sp>
        <p:nvSpPr>
          <p:cNvPr id="20" name="Oval 19"/>
          <p:cNvSpPr/>
          <p:nvPr/>
        </p:nvSpPr>
        <p:spPr>
          <a:xfrm>
            <a:off x="11018520" y="3721608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61188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הקלטה בלי ידיים (auto)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ההקלטה מתחילה כשיד נכנסת לפריים וחוזרת כשהידיים מוסתרות - 500 הקלטות על ה-Pi.</a:t>
            </a:r>
          </a:p>
        </p:txBody>
      </p:sp>
      <p:sp>
        <p:nvSpPr>
          <p:cNvPr id="22" name="Oval 21"/>
          <p:cNvSpPr/>
          <p:nvPr/>
        </p:nvSpPr>
        <p:spPr>
          <a:xfrm>
            <a:off x="11018520" y="4590288"/>
            <a:ext cx="384048" cy="384048"/>
          </a:xfrm>
          <a:prstGeom prst="ellipse">
            <a:avLst/>
          </a:prstGeom>
          <a:solidFill>
            <a:srgbClr val="4FA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8056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משקל פי 3 + עותקים דמויי Pi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כל הקלטת Pi נספרת 3 פעמים, ועותקי האימון נוצרים ב-6-10 FPS עם נשירה קצרה של יד.</a:t>
            </a:r>
          </a:p>
        </p:txBody>
      </p:sp>
      <p:sp>
        <p:nvSpPr>
          <p:cNvPr id="24" name="Oval 23"/>
          <p:cNvSpPr/>
          <p:nvPr/>
        </p:nvSpPr>
        <p:spPr>
          <a:xfrm>
            <a:off x="11018520" y="5458968"/>
            <a:ext cx="384048" cy="384048"/>
          </a:xfrm>
          <a:prstGeom prst="ellipse">
            <a:avLst/>
          </a:prstGeom>
          <a:solidFill>
            <a:srgbClr val="DA5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349240"/>
            <a:ext cx="10012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lang="he-IL">
                <a:solidFill>
                  <a:srgbClr val="0E3A44"/>
                </a:solidFill>
                <a:latin typeface="Arial"/>
              </a:rPr>
              <a:t>בלי פגיעה במחשב</a:t>
            </a:r>
          </a:p>
          <a:p>
            <a:pPr algn="r" rtl="1">
              <a:lnSpc>
                <a:spcPct val="100000"/>
              </a:lnSpc>
            </a:pPr>
            <a:r>
              <a:rPr sz="1400" b="0" lang="he-IL">
                <a:solidFill>
                  <a:srgbClr val="56666E"/>
                </a:solidFill>
                <a:latin typeface="Arial"/>
              </a:rPr>
              <a:t>דיוק על דגימות המבחן מהמחשב: 97.1% לפני, 97.6% אחרי (ממוצע של 3 אימונים).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7935" y="566928"/>
            <a:ext cx="6400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איפה אנחנו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8" y="1325880"/>
            <a:ext cx="2103120" cy="74980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92840" y="1536192"/>
            <a:ext cx="329184" cy="3291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840" y="153619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1325880"/>
            <a:ext cx="1115567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 lang="he-IL">
                <a:solidFill>
                  <a:srgbClr val="173039"/>
                </a:solidFill>
                <a:latin typeface="Arial"/>
              </a:rPr>
              <a:t>סימנים על ה-Pi</a:t>
            </a:r>
          </a:p>
        </p:txBody>
      </p:sp>
      <p:pic>
        <p:nvPicPr>
          <p:cNvPr id="31" name="Picture 30" descr="hands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7153" y="1562460"/>
            <a:ext cx="468172" cy="27664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56348" y="1325880"/>
            <a:ext cx="2103120" cy="74980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83980" y="1536192"/>
            <a:ext cx="329184" cy="3291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3980" y="153619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3548" y="1325880"/>
            <a:ext cx="1115567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 lang="he-IL">
                <a:solidFill>
                  <a:srgbClr val="173039"/>
                </a:solidFill>
                <a:latin typeface="Arial"/>
              </a:rPr>
              <a:t>זיהוי דיבור</a:t>
            </a:r>
          </a:p>
        </p:txBody>
      </p:sp>
      <p:pic>
        <p:nvPicPr>
          <p:cNvPr id="36" name="Picture 35" descr="wav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079" y="1554480"/>
            <a:ext cx="274601" cy="29260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047488" y="1325880"/>
            <a:ext cx="2103120" cy="74980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19" y="1536192"/>
            <a:ext cx="329184" cy="3291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19" y="153619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1325880"/>
            <a:ext cx="1115567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 lang="he-IL">
                <a:solidFill>
                  <a:srgbClr val="173039"/>
                </a:solidFill>
                <a:latin typeface="Arial"/>
              </a:rPr>
              <a:t>אימון + אוגמנטציה</a:t>
            </a:r>
          </a:p>
        </p:txBody>
      </p:sp>
      <p:pic>
        <p:nvPicPr>
          <p:cNvPr id="41" name="Picture 40" descr="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965" y="1554480"/>
            <a:ext cx="297109" cy="29260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2738628" y="1325880"/>
            <a:ext cx="2103120" cy="74980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66260" y="1536192"/>
            <a:ext cx="329184" cy="3291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6260" y="153619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5828" y="1325880"/>
            <a:ext cx="1115567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 lang="he-IL">
                <a:solidFill>
                  <a:srgbClr val="173039"/>
                </a:solidFill>
                <a:latin typeface="Arial"/>
              </a:rPr>
              <a:t>זמן אמת</a:t>
            </a:r>
          </a:p>
        </p:txBody>
      </p:sp>
      <p:pic>
        <p:nvPicPr>
          <p:cNvPr id="46" name="Picture 45" descr="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6105" y="1554480"/>
            <a:ext cx="297109" cy="29260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429768" y="1325880"/>
            <a:ext cx="2103120" cy="74980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057399" y="1536192"/>
            <a:ext cx="329184" cy="32918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399" y="153619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" y="1325880"/>
            <a:ext cx="1115567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300" b="1" lang="he-IL">
                <a:solidFill>
                  <a:srgbClr val="173039"/>
                </a:solidFill>
                <a:latin typeface="Arial"/>
              </a:rPr>
              <a:t>אפליקציית מגע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9768" y="2286000"/>
            <a:ext cx="11338560" cy="658368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2286000"/>
            <a:ext cx="1092708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מערכת עובדת על ה-Pi עם מסך מגע: דיוק 97.6% על דגימות מבחן (96.3% בהדמיה של 10 FPS), 90.0% על הקלטות Pi שהמודל לא ראה, וזיהוי אמין בשימוש חי.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9768" y="3154680"/>
            <a:ext cx="11338560" cy="292608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ulb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0837" y="3360420"/>
            <a:ext cx="489685" cy="5029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229600" y="3364992"/>
            <a:ext cx="2514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1" lang="he-IL">
                <a:solidFill>
                  <a:srgbClr val="173039"/>
                </a:solidFill>
                <a:latin typeface="Arial"/>
              </a:rPr>
              <a:t>סיכום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3977639"/>
            <a:ext cx="106527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•  מערכת אחת עם שני ערוצים על מכשיר קטן עם מסך מגע וללא ענן - ודמות שמסמנת 144 מילים מדוברות.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•  החומרה משנה את הבעיה: אוגמנטציה הספיקה ל-16 מילים; לאוצר המילים המלא הוספנו 10 הקלטות לכל מילה על ה-Pi.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•  מצב התחלה (onset): מילה אחת לכל סימן, בלי הבהובים של מילים שגויות.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1600" b="0" lang="he-IL">
                <a:solidFill>
                  <a:srgbClr val="56666E"/>
                </a:solidFill>
                <a:latin typeface="Arial"/>
              </a:rPr>
              <a:t>•  השלב הבא: מבחן על מסמנים חדשים, עוד הקלטות על ה-Pi והפעלת שני הערוצים יחד.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750" y="1554480"/>
            <a:ext cx="370911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4434840"/>
            <a:ext cx="3200400" cy="320040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1371600"/>
            <a:ext cx="2834640" cy="283464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10335" y="1874519"/>
            <a:ext cx="10058400" cy="14719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he-IL" sz="4600" b="1" i="0" dirty="0">
                <a:solidFill>
                  <a:srgbClr val="FFFFFF"/>
                </a:solidFill>
                <a:latin typeface="Arial"/>
              </a:rPr>
              <a:t>תודה! שאלות?</a:t>
            </a:r>
            <a:endParaRPr sz="4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4000" y="603504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>
                <a:solidFill>
                  <a:srgbClr val="CFE6E8"/>
                </a:solidFill>
                <a:latin typeface="Arial"/>
              </a:rPr>
              <a:t>Senseless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מבט על המערכת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רכיבי המערכת: מה נכנס, מה רץ על ה-</a:t>
            </a:r>
            <a:r>
              <a:rPr sz="1700" b="0" lang="en-US">
                <a:solidFill>
                  <a:srgbClr val="56666E"/>
                </a:solidFill>
                <a:latin typeface="Arial"/>
              </a:rPr>
              <a:t>Raspberry Pi</a:t>
            </a:r>
            <a:r>
              <a:rPr sz="1700" b="0" lang="he-IL">
                <a:solidFill>
                  <a:srgbClr val="56666E"/>
                </a:solidFill>
                <a:latin typeface="Arial"/>
              </a:rPr>
              <a:t> ומה יוצא - הכול מקומית, ללא רשת.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14884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827" y="2354580"/>
            <a:ext cx="584345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0" y="2221992"/>
            <a:ext cx="155448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0E3A44"/>
                </a:solidFill>
                <a:latin typeface="Arial"/>
              </a:rPr>
              <a:t>מצלמת </a:t>
            </a:r>
            <a:r>
              <a:rPr sz="1600" b="1" lang="en-US">
                <a:solidFill>
                  <a:srgbClr val="0E3A44"/>
                </a:solidFill>
                <a:latin typeface="Arial"/>
              </a:rPr>
              <a:t>USB</a:t>
            </a:r>
          </a:p>
          <a:p>
            <a:pPr algn="r" rtl="1">
              <a:lnSpc>
                <a:spcPct val="100000"/>
              </a:lnSpc>
            </a:pPr>
            <a:r>
              <a:rPr sz="1200" b="0" lang="en-US">
                <a:solidFill>
                  <a:srgbClr val="56666E"/>
                </a:solidFill>
                <a:latin typeface="Arial"/>
              </a:rPr>
              <a:t>Logitech C920, 640×480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342900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7740" y="3634740"/>
            <a:ext cx="3445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0" y="3502152"/>
            <a:ext cx="155448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0E3A44"/>
                </a:solidFill>
                <a:latin typeface="Arial"/>
              </a:rPr>
              <a:t>מיקרופון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המיקרופון המובנה במצלמה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920240"/>
            <a:ext cx="5486400" cy="3611880"/>
          </a:xfrm>
          <a:prstGeom prst="roundRect">
            <a:avLst>
              <a:gd name="adj" fmla="val 7000"/>
            </a:avLst>
          </a:prstGeom>
          <a:solidFill>
            <a:srgbClr val="F4F9F9"/>
          </a:solidFill>
          <a:ln w="9525">
            <a:solidFill>
              <a:srgbClr val="4FA3AA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993392"/>
            <a:ext cx="5120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800" b="1" lang="en-US">
                <a:solidFill>
                  <a:srgbClr val="0E3A44"/>
                </a:solidFill>
                <a:latin typeface="Arial"/>
              </a:rPr>
              <a:t>Raspberry Pi 4B (8 GB)</a:t>
            </a:r>
          </a:p>
          <a:p>
            <a:pPr algn="ct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ארבע ליבות, מערכת </a:t>
            </a:r>
            <a:r>
              <a:rPr sz="1200" b="0" lang="en-US">
                <a:solidFill>
                  <a:srgbClr val="56666E"/>
                </a:solidFill>
                <a:latin typeface="Arial"/>
              </a:rPr>
              <a:t>Bookworm</a:t>
            </a:r>
            <a:r>
              <a:rPr sz="1200" b="0" lang="he-IL">
                <a:solidFill>
                  <a:srgbClr val="56666E"/>
                </a:solidFill>
                <a:latin typeface="Arial"/>
              </a:rPr>
              <a:t>, הסקה בלבד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43200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16352"/>
            <a:ext cx="2194560" cy="9509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 lang="he-IL">
                <a:solidFill>
                  <a:srgbClr val="FFFFFF"/>
                </a:solidFill>
                <a:latin typeface="Arial"/>
              </a:rPr>
              <a:t>ערוץ סימנים</a:t>
            </a:r>
          </a:p>
          <a:p>
            <a:pPr algn="r" rtl="1">
              <a:lnSpc>
                <a:spcPct val="100000"/>
              </a:lnSpc>
            </a:pPr>
            <a:r>
              <a:rPr sz="1100" b="0" lang="he-IL">
                <a:solidFill>
                  <a:srgbClr val="CFE6E8"/>
                </a:solidFill>
                <a:latin typeface="Arial"/>
              </a:rPr>
              <a:t>שני תהליכי </a:t>
            </a:r>
            <a:r>
              <a:rPr sz="1100" b="0" lang="en-US">
                <a:solidFill>
                  <a:srgbClr val="CFE6E8"/>
                </a:solidFill>
                <a:latin typeface="Arial"/>
              </a:rPr>
              <a:t>MediaPipe lite</a:t>
            </a:r>
            <a:r>
              <a:rPr sz="1100" b="0" lang="he-IL">
                <a:solidFill>
                  <a:srgbClr val="CFE6E8"/>
                </a:solidFill>
                <a:latin typeface="Arial"/>
              </a:rPr>
              <a:t> ומודל </a:t>
            </a:r>
            <a:r>
              <a:rPr sz="1100" b="0" lang="en-US">
                <a:solidFill>
                  <a:srgbClr val="CFE6E8"/>
                </a:solidFill>
                <a:latin typeface="Arial"/>
              </a:rPr>
              <a:t>GRU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2743200"/>
            <a:ext cx="2468880" cy="1097280"/>
          </a:xfrm>
          <a:prstGeom prst="roundRect">
            <a:avLst>
              <a:gd name="adj" fmla="val 7000"/>
            </a:avLst>
          </a:prstGeom>
          <a:solidFill>
            <a:srgbClr val="DA5B35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816352"/>
            <a:ext cx="2194560" cy="95097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 lang="he-IL">
                <a:solidFill>
                  <a:srgbClr val="FFFFFF"/>
                </a:solidFill>
                <a:latin typeface="Arial"/>
              </a:rPr>
              <a:t>ערוץ דיבור</a:t>
            </a:r>
          </a:p>
          <a:p>
            <a:pPr algn="r" rtl="1">
              <a:lnSpc>
                <a:spcPct val="100000"/>
              </a:lnSpc>
            </a:pPr>
            <a:r>
              <a:rPr sz="1100" b="0" lang="he-IL">
                <a:solidFill>
                  <a:srgbClr val="FFFFFF"/>
                </a:solidFill>
                <a:latin typeface="Arial"/>
              </a:rPr>
              <a:t>תמלול זורם עם </a:t>
            </a:r>
            <a:r>
              <a:rPr sz="1100" b="0" lang="en-US">
                <a:solidFill>
                  <a:srgbClr val="FFFFFF"/>
                </a:solidFill>
                <a:latin typeface="Arial"/>
              </a:rPr>
              <a:t>Vosk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114800"/>
            <a:ext cx="5120640" cy="1188720"/>
          </a:xfrm>
          <a:prstGeom prst="roundRect">
            <a:avLst>
              <a:gd name="adj" fmla="val 7000"/>
            </a:avLst>
          </a:prstGeom>
          <a:solidFill>
            <a:srgbClr val="0E3A44"/>
          </a:solidFill>
          <a:ln>
            <a:noFill/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187952"/>
            <a:ext cx="4846320" cy="104241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1" lang="he-IL">
                <a:solidFill>
                  <a:srgbClr val="FFFFFF"/>
                </a:solidFill>
                <a:latin typeface="Arial"/>
              </a:rPr>
              <a:t>אפליקציית מסך מגע</a:t>
            </a:r>
          </a:p>
          <a:p>
            <a:pPr algn="r" rtl="1">
              <a:lnSpc>
                <a:spcPct val="100000"/>
              </a:lnSpc>
            </a:pPr>
            <a:r>
              <a:rPr sz="1100" b="0" lang="he-IL">
                <a:solidFill>
                  <a:srgbClr val="CFE6E8"/>
                </a:solidFill>
                <a:latin typeface="Arial"/>
              </a:rPr>
              <a:t>ערוץ אחד פעיל, מעבר בנגיעה  ·  דמות שמסמנת </a:t>
            </a:r>
            <a:r>
              <a:rPr sz="1100" b="0" lang="en-US">
                <a:solidFill>
                  <a:srgbClr val="CFE6E8"/>
                </a:solidFill>
                <a:latin typeface="Arial"/>
              </a:rPr>
              <a:t>144</a:t>
            </a:r>
            <a:r>
              <a:rPr sz="1100" b="0" lang="he-IL">
                <a:solidFill>
                  <a:srgbClr val="CFE6E8"/>
                </a:solidFill>
                <a:latin typeface="Arial"/>
              </a:rPr>
              <a:t> מילים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063240"/>
            <a:ext cx="2514600" cy="114300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407" y="3383280"/>
            <a:ext cx="637504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" y="3136392"/>
            <a:ext cx="1554480" cy="9966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1" lang="he-IL">
                <a:solidFill>
                  <a:srgbClr val="0E3A44"/>
                </a:solidFill>
                <a:latin typeface="Arial"/>
              </a:rPr>
              <a:t>מסך מגע </a:t>
            </a:r>
            <a:r>
              <a:rPr sz="1600" b="1" lang="en-US">
                <a:solidFill>
                  <a:srgbClr val="0E3A44"/>
                </a:solidFill>
                <a:latin typeface="Arial"/>
              </a:rPr>
              <a:t>7</a:t>
            </a:r>
            <a:r>
              <a:rPr sz="1600" b="1" lang="he-IL">
                <a:solidFill>
                  <a:srgbClr val="0E3A44"/>
                </a:solidFill>
                <a:latin typeface="Arial"/>
              </a:rPr>
              <a:t> אינץ'</a:t>
            </a:r>
          </a:p>
          <a:p>
            <a:pPr algn="r" rtl="1">
              <a:lnSpc>
                <a:spcPct val="100000"/>
              </a:lnSpc>
            </a:pPr>
            <a:r>
              <a:rPr sz="1200" b="0" lang="he-IL">
                <a:solidFill>
                  <a:srgbClr val="56666E"/>
                </a:solidFill>
                <a:latin typeface="Arial"/>
              </a:rPr>
              <a:t>טקסט ודמות מסמנת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715000"/>
            <a:ext cx="5486400" cy="685800"/>
          </a:xfrm>
          <a:prstGeom prst="roundRect">
            <a:avLst>
              <a:gd name="adj" fmla="val 7000"/>
            </a:avLst>
          </a:prstGeom>
          <a:solidFill>
            <a:srgbClr val="EEF4F6"/>
          </a:solidFill>
          <a:ln w="9525">
            <a:solidFill>
              <a:srgbClr val="D5E0E2"/>
            </a:solidFill>
          </a:ln>
          <a:effectLst>
            <a:outerShdw blurRad="50000" dist="19000" dir="5400000" rotWithShape="0">
              <a:srgbClr val="14303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788152"/>
            <a:ext cx="5212080" cy="5394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1" lang="he-IL">
                <a:solidFill>
                  <a:srgbClr val="0E3A44"/>
                </a:solidFill>
                <a:latin typeface="Arial"/>
              </a:rPr>
              <a:t>מחשב פיתוח</a:t>
            </a:r>
          </a:p>
          <a:p>
            <a:pPr algn="r" rtl="1">
              <a:lnSpc>
                <a:spcPct val="100000"/>
              </a:lnSpc>
            </a:pPr>
            <a:r>
              <a:rPr sz="1100" b="0" lang="he-IL">
                <a:solidFill>
                  <a:srgbClr val="56666E"/>
                </a:solidFill>
                <a:latin typeface="Arial"/>
              </a:rPr>
              <a:t>הקלטה, אימון וייצוא; המודלים מועתקים ל-</a:t>
            </a:r>
            <a:r>
              <a:rPr sz="1100" b="0" lang="en-US">
                <a:solidFill>
                  <a:srgbClr val="56666E"/>
                </a:solidFill>
                <a:latin typeface="Arial"/>
              </a:rPr>
              <a:t>Pi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686800" y="2606040"/>
            <a:ext cx="640080" cy="50292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686800" y="3566160"/>
            <a:ext cx="640080" cy="320040"/>
          </a:xfrm>
          <a:prstGeom prst="line">
            <a:avLst/>
          </a:prstGeom>
          <a:ln w="25400">
            <a:solidFill>
              <a:srgbClr val="DA5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926080" y="3611880"/>
            <a:ext cx="365760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80760" y="5559552"/>
            <a:ext cx="0" cy="128016"/>
          </a:xfrm>
          <a:prstGeom prst="line">
            <a:avLst/>
          </a:prstGeom>
          <a:ln w="25400">
            <a:solidFill>
              <a:srgbClr val="566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72600" y="4663440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100" b="0" lang="he-IL">
                <a:solidFill>
                  <a:srgbClr val="56666E"/>
                </a:solidFill>
                <a:latin typeface="Arial"/>
              </a:rPr>
              <a:t>ספק </a:t>
            </a:r>
            <a:r>
              <a:rPr sz="1100" b="0" lang="en-US">
                <a:solidFill>
                  <a:srgbClr val="56666E"/>
                </a:solidFill>
                <a:latin typeface="Arial"/>
              </a:rPr>
              <a:t>USB-C</a:t>
            </a:r>
            <a:r>
              <a:rPr sz="1100" b="0" lang="he-IL">
                <a:solidFill>
                  <a:srgbClr val="56666E"/>
                </a:solidFill>
                <a:latin typeface="Arial"/>
              </a:rPr>
              <a:t> רשמי  ·  צלעות קירור + מאוורר  ·  מעמד מודפס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המפרט: דרישות המערכת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מה המערכת צריכה לעשות (פונקציונליות) ובאילו אילוצים (לא-פונקציונליות).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2011680"/>
          <a:ext cx="5440680" cy="3438144"/>
        </p:xfrm>
        <a:graphic>
          <a:graphicData uri="http://schemas.openxmlformats.org/drawingml/2006/table">
            <a:tbl>
              <a:tblPr firstRow="0" bandRow="0" rtl="1">
                <a:tableStyleId>{5C22544A-7EE6-4342-B048-85BDC9FD1C3A}</a:tableStyleId>
              </a:tblPr>
              <a:tblGrid>
                <a:gridCol w="5440680"/>
              </a:tblGrid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 lang="he-IL">
                          <a:solidFill>
                            <a:srgbClr val="FFFFFF"/>
                          </a:solidFill>
                          <a:latin typeface="Arial"/>
                        </a:rPr>
                        <a:t>דרישות פונקציונליות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FR-1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זיהוי מילים מבודדות ב-</a:t>
                      </a:r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ASL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מאוצר מילים מבוקר, והצגתן כטקסט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FR-2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תמלול דיבור באנגלית, עם תוצאות חלקיות וסופיות בזמן אמת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FR-3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שני ערוצים בלתי תלויים זה בזה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FR-4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כלי להקלטת דוגמאות מתויגות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FR-5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אימון משוחזר וייצוא למודל </a:t>
                      </a:r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INT8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FR-6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אפליקציית מסך מגע במסך מלא שעולה עם ההדלקה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FR-7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הצגת סימן מוקלט למילים מדוברות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2011680"/>
          <a:ext cx="5440680" cy="3008376"/>
        </p:xfrm>
        <a:graphic>
          <a:graphicData uri="http://schemas.openxmlformats.org/drawingml/2006/table">
            <a:tbl>
              <a:tblPr firstRow="0" bandRow="0" rtl="1">
                <a:tableStyleId>{5C22544A-7EE6-4342-B048-85BDC9FD1C3A}</a:tableStyleId>
              </a:tblPr>
              <a:tblGrid>
                <a:gridCol w="5440680"/>
              </a:tblGrid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1" lang="he-IL">
                          <a:solidFill>
                            <a:srgbClr val="FFFFFF"/>
                          </a:solidFill>
                          <a:latin typeface="Arial"/>
                        </a:rPr>
                        <a:t>דרישות לא-פונקציונליות</a:t>
                      </a:r>
                    </a:p>
                  </a:txBody>
                  <a:tcPr marL="73152" marR="73152" marT="27432" marB="27432" anchor="ctr">
                    <a:solidFill>
                      <a:srgbClr val="DA5B3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NFR-1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פעולה אופליין מלאה, ללא רשת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NFR-2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לעבוד בתוך </a:t>
                      </a:r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4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הליבות של </a:t>
                      </a:r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Raspberry Pi 4B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NFR-3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השהיה חסומה גם תחת עומס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NFR-4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תוכנה ומודלים חופשיים ברישיון פתוח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NFR-5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מסווג סימנים עם פחות ממיליון פרמטרים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r" rtl="1"/>
                      <a:r>
                        <a:rPr sz="1300" b="0" lang="en-US">
                          <a:solidFill>
                            <a:srgbClr val="173039"/>
                          </a:solidFill>
                          <a:latin typeface="Arial"/>
                        </a:rPr>
                        <a:t>NFR-6</a:t>
                      </a:r>
                      <a:r>
                        <a:rPr sz="1300" b="0" lang="he-IL">
                          <a:solidFill>
                            <a:srgbClr val="173039"/>
                          </a:solidFill>
                          <a:latin typeface="Arial"/>
                        </a:rPr>
                        <a:t>  קוד שניתן לבדוק בלי חומרת היעד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האלגוריתמיקה: מפריים למילה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חמישה שלבים שרצים על כל סימן, באותו קוד ב-</a:t>
            </a:r>
            <a:r>
              <a:rPr sz="1700" b="0" lang="en-US">
                <a:solidFill>
                  <a:srgbClr val="56666E"/>
                </a:solidFill>
                <a:latin typeface="Arial"/>
              </a:rPr>
              <a:t>Pi</a:t>
            </a:r>
            <a:r>
              <a:rPr sz="1700" b="0" lang="he-IL">
                <a:solidFill>
                  <a:srgbClr val="56666E"/>
                </a:solidFill>
                <a:latin typeface="Arial"/>
              </a:rPr>
              <a:t> ובמחשב.</a:t>
            </a:r>
          </a:p>
        </p:txBody>
      </p:sp>
      <p:sp>
        <p:nvSpPr>
          <p:cNvPr id="14" name="Oval 13"/>
          <p:cNvSpPr/>
          <p:nvPr/>
        </p:nvSpPr>
        <p:spPr>
          <a:xfrm>
            <a:off x="11018520" y="2121408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011680"/>
            <a:ext cx="1001268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en-US">
                <a:solidFill>
                  <a:srgbClr val="0E3A44"/>
                </a:solidFill>
                <a:latin typeface="Arial"/>
              </a:rPr>
              <a:t>1</a:t>
            </a:r>
            <a:r>
              <a:rPr sz="1700" b="1" lang="he-IL">
                <a:solidFill>
                  <a:srgbClr val="0E3A44"/>
                </a:solidFill>
                <a:latin typeface="Arial"/>
              </a:rPr>
              <a:t>. נורמליזציה לגוף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מכל נקודה מחסירים את אמצע הכתפיים ומחלקים ברוחב הכתפיים, כך שמיקום ומרחק מהמצלמה לא משנים. יד חסרה מיוצגת באפסים, ולכל פריים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153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ערכים.</a:t>
            </a:r>
          </a:p>
        </p:txBody>
      </p:sp>
      <p:sp>
        <p:nvSpPr>
          <p:cNvPr id="16" name="Oval 15"/>
          <p:cNvSpPr/>
          <p:nvPr/>
        </p:nvSpPr>
        <p:spPr>
          <a:xfrm>
            <a:off x="11018520" y="2990088"/>
            <a:ext cx="384048" cy="384048"/>
          </a:xfrm>
          <a:prstGeom prst="ellipse">
            <a:avLst/>
          </a:prstGeom>
          <a:solidFill>
            <a:srgbClr val="4FA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880360"/>
            <a:ext cx="1001268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en-US">
                <a:solidFill>
                  <a:srgbClr val="0E3A44"/>
                </a:solidFill>
                <a:latin typeface="Arial"/>
              </a:rPr>
              <a:t>2</a:t>
            </a:r>
            <a:r>
              <a:rPr sz="1700" b="1" lang="he-IL">
                <a:solidFill>
                  <a:srgbClr val="0E3A44"/>
                </a:solidFill>
                <a:latin typeface="Arial"/>
              </a:rPr>
              <a:t>. חלון זמן</a:t>
            </a:r>
          </a:p>
          <a:p>
            <a:pPr algn="r" rtl="1">
              <a:lnSpc>
                <a:spcPct val="100000"/>
              </a:lnSpc>
            </a:pPr>
            <a:r>
              <a:rPr sz="1300" b="0" lang="en-US">
                <a:solidFill>
                  <a:srgbClr val="56666E"/>
                </a:solidFill>
                <a:latin typeface="Arial"/>
              </a:rPr>
              <a:t>1.47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שניות מרגע הופעת היד נדגמות מחדש (אינטרפולציה לינארית) ל-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45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צעדים - אותה מהירות בכל קצב פריימים.</a:t>
            </a:r>
          </a:p>
        </p:txBody>
      </p:sp>
      <p:sp>
        <p:nvSpPr>
          <p:cNvPr id="18" name="Oval 17"/>
          <p:cNvSpPr/>
          <p:nvPr/>
        </p:nvSpPr>
        <p:spPr>
          <a:xfrm>
            <a:off x="11018520" y="3858768"/>
            <a:ext cx="384048" cy="384048"/>
          </a:xfrm>
          <a:prstGeom prst="ellipse">
            <a:avLst/>
          </a:prstGeom>
          <a:solidFill>
            <a:srgbClr val="DA5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749039"/>
            <a:ext cx="1001268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en-US">
                <a:solidFill>
                  <a:srgbClr val="0E3A44"/>
                </a:solidFill>
                <a:latin typeface="Arial"/>
              </a:rPr>
              <a:t>3</a:t>
            </a:r>
            <a:r>
              <a:rPr sz="1700" b="1" lang="he-IL">
                <a:solidFill>
                  <a:srgbClr val="0E3A44"/>
                </a:solidFill>
                <a:latin typeface="Arial"/>
              </a:rPr>
              <a:t>. מקטע </a:t>
            </a:r>
            <a:r>
              <a:rPr sz="1700" b="1" lang="en-US">
                <a:solidFill>
                  <a:srgbClr val="0E3A44"/>
                </a:solidFill>
                <a:latin typeface="Arial"/>
              </a:rPr>
              <a:t>onset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הלכידה מתחילה אחרי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2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פריימים רצופים עם יד; הסימן הבא מתחיל רק אחרי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0.3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שניות בלי ידיים. סיווג אחד לכל סימן.</a:t>
            </a:r>
          </a:p>
        </p:txBody>
      </p:sp>
      <p:sp>
        <p:nvSpPr>
          <p:cNvPr id="20" name="Oval 19"/>
          <p:cNvSpPr/>
          <p:nvPr/>
        </p:nvSpPr>
        <p:spPr>
          <a:xfrm>
            <a:off x="11018520" y="4727448"/>
            <a:ext cx="384048" cy="384048"/>
          </a:xfrm>
          <a:prstGeom prst="ellipse">
            <a:avLst/>
          </a:prstGeom>
          <a:solidFill>
            <a:srgbClr val="0E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17720"/>
            <a:ext cx="1001268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en-US">
                <a:solidFill>
                  <a:srgbClr val="0E3A44"/>
                </a:solidFill>
                <a:latin typeface="Arial"/>
              </a:rPr>
              <a:t>4</a:t>
            </a:r>
            <a:r>
              <a:rPr sz="1700" b="1" lang="he-IL">
                <a:solidFill>
                  <a:srgbClr val="0E3A44"/>
                </a:solidFill>
                <a:latin typeface="Arial"/>
              </a:rPr>
              <a:t>. מודל </a:t>
            </a:r>
            <a:r>
              <a:rPr sz="1700" b="1" lang="en-US">
                <a:solidFill>
                  <a:srgbClr val="0E3A44"/>
                </a:solidFill>
                <a:latin typeface="Arial"/>
              </a:rPr>
              <a:t>GRU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שכבת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GRU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עם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128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יחידות, שכבה צפופה עם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64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יחידות ושכבת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Softmax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עם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50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מחלקות.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120,178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פרמטרים בסך הכול, ובגודל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844 KB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אחרי קוונטיזציה ל-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INT8</a:t>
            </a:r>
          </a:p>
        </p:txBody>
      </p:sp>
      <p:sp>
        <p:nvSpPr>
          <p:cNvPr id="22" name="Oval 21"/>
          <p:cNvSpPr/>
          <p:nvPr/>
        </p:nvSpPr>
        <p:spPr>
          <a:xfrm>
            <a:off x="11018520" y="5596128"/>
            <a:ext cx="384048" cy="384048"/>
          </a:xfrm>
          <a:prstGeom prst="ellipse">
            <a:avLst/>
          </a:prstGeom>
          <a:solidFill>
            <a:srgbClr val="566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486400"/>
            <a:ext cx="1001268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1" lang="en-US">
                <a:solidFill>
                  <a:srgbClr val="0E3A44"/>
                </a:solidFill>
                <a:latin typeface="Arial"/>
              </a:rPr>
              <a:t>5</a:t>
            </a:r>
            <a:r>
              <a:rPr sz="1700" b="1" lang="he-IL">
                <a:solidFill>
                  <a:srgbClr val="0E3A44"/>
                </a:solidFill>
                <a:latin typeface="Arial"/>
              </a:rPr>
              <a:t>. החלטה</a:t>
            </a:r>
          </a:p>
          <a:p>
            <a:pPr algn="r" rtl="1">
              <a:lnSpc>
                <a:spcPct val="100000"/>
              </a:lnSpc>
            </a:pPr>
            <a:r>
              <a:rPr sz="1300" b="0" lang="he-IL">
                <a:solidFill>
                  <a:srgbClr val="56666E"/>
                </a:solidFill>
                <a:latin typeface="Arial"/>
              </a:rPr>
              <a:t>מילה נכנסת למשפט רק אם ההסתברות הגבוהה היא לפחות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0.6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 והתווית איננה </a:t>
            </a:r>
            <a:r>
              <a:rPr sz="1300" b="0" lang="en-US">
                <a:solidFill>
                  <a:srgbClr val="56666E"/>
                </a:solidFill>
                <a:latin typeface="Arial"/>
              </a:rPr>
              <a:t>IDLE</a:t>
            </a:r>
            <a:r>
              <a:rPr sz="1300" b="0" lang="he-IL">
                <a:solidFill>
                  <a:srgbClr val="56666E"/>
                </a:solidFill>
                <a:latin typeface="Arial"/>
              </a:rPr>
              <a:t>. IDLE בטוח מוצג כ"אין סימן" ולא נכנס למשפט; אחרת מוצג "?".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ביצועים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מדידות על מודל ה-</a:t>
            </a:r>
            <a:r>
              <a:rPr sz="1700" b="0" lang="en-US">
                <a:solidFill>
                  <a:srgbClr val="56666E"/>
                </a:solidFill>
                <a:latin typeface="Arial"/>
              </a:rPr>
              <a:t>INT8</a:t>
            </a:r>
            <a:r>
              <a:rPr sz="1700" b="0" lang="he-IL">
                <a:solidFill>
                  <a:srgbClr val="56666E"/>
                </a:solidFill>
                <a:latin typeface="Arial"/>
              </a:rPr>
              <a:t> שרץ על ה-</a:t>
            </a:r>
            <a:r>
              <a:rPr sz="1700" b="0" lang="en-US">
                <a:solidFill>
                  <a:srgbClr val="56666E"/>
                </a:solidFill>
                <a:latin typeface="Arial"/>
              </a:rPr>
              <a:t>Pi</a:t>
            </a:r>
            <a:r>
              <a:rPr sz="1700" b="0" lang="he-IL">
                <a:solidFill>
                  <a:srgbClr val="56666E"/>
                </a:solidFill>
                <a:latin typeface="Arial"/>
              </a:rPr>
              <a:t> בפועל.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65960"/>
          <a:ext cx="11064239" cy="4096512"/>
        </p:xfrm>
        <a:graphic>
          <a:graphicData uri="http://schemas.openxmlformats.org/drawingml/2006/table">
            <a:tbl>
              <a:tblPr firstRow="0" bandRow="0" rtl="1">
                <a:tableStyleId>{5C22544A-7EE6-4342-B048-85BDC9FD1C3A}</a:tableStyleId>
              </a:tblPr>
              <a:tblGrid>
                <a:gridCol w="3651199"/>
                <a:gridCol w="2212848"/>
                <a:gridCol w="5200192"/>
              </a:tblGrid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</a:rPr>
                        <a:t>מדד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</a:rPr>
                        <a:t>תוצאה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1" lang="he-IL">
                          <a:solidFill>
                            <a:srgbClr val="FFFFFF"/>
                          </a:solidFill>
                          <a:latin typeface="Arial"/>
                        </a:rPr>
                        <a:t>הערה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דיוק על דגימות מבחן (מחשב)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97.6%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368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מתוך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377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דגימות;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36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מתוך 50 מחלקות בלי אף שגיאה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דיוק בהדמיה של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10 FPS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96.3%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אותן דגימות, כפי שמצלמה איטית רואה אותן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דיוק על הקלטות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שהמודל לא ראה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90.0%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ממוצע של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אימונים, לעומת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37.6%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בלי הקלטות מה-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מצב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onset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בהדמיה של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7 FPS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356 / 377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חלון אחד לכל סימן בכל הזרמים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קצב פריימים על ה-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6.5-7.5 FPS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לעומת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2.7-4.4 FPS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עם המודלים הרגילים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זמן סיווג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0.15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במחשב; זניח לעומת חילוץ הנקודות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גודל המודל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120,178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 פרמטרים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בגודל </a:t>
                      </a:r>
                      <a:r>
                        <a:rPr sz="1400" b="0" lang="en-US">
                          <a:solidFill>
                            <a:srgbClr val="173039"/>
                          </a:solidFill>
                          <a:latin typeface="Arial"/>
                        </a:rPr>
                        <a:t>844 KB</a:t>
                      </a:r>
                      <a:r>
                        <a:rPr sz="1400" b="0" lang="he-IL">
                          <a:solidFill>
                            <a:srgbClr val="173039"/>
                          </a:solidFill>
                          <a:latin typeface="Arial"/>
                        </a:rPr>
                        <a:t>, בלי אובדן דיוק מהקוונטיזציה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39135" y="566928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800" b="1" i="0" lang="he-IL">
                <a:solidFill>
                  <a:srgbClr val="173039"/>
                </a:solidFill>
                <a:latin typeface="Arial"/>
              </a:rPr>
              <a:t>עמידה במפרט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C7"/>
                </a:solidFill>
                <a:latin typeface="Arial"/>
              </a:rPr>
              <a:t>Senseless ·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he-IL">
                <a:solidFill>
                  <a:srgbClr val="56666E"/>
                </a:solidFill>
                <a:latin typeface="Arial"/>
              </a:rPr>
              <a:t>כל דרישה, איך נבדקה, ומה התקבל.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783080"/>
          <a:ext cx="11064239" cy="4608576"/>
        </p:xfrm>
        <a:graphic>
          <a:graphicData uri="http://schemas.openxmlformats.org/drawingml/2006/table">
            <a:tbl>
              <a:tblPr firstRow="0" bandRow="0" rtl="1">
                <a:tableStyleId>{5C22544A-7EE6-4342-B048-85BDC9FD1C3A}</a:tableStyleId>
              </a:tblPr>
              <a:tblGrid>
                <a:gridCol w="3761841"/>
                <a:gridCol w="6638544"/>
                <a:gridCol w="663854"/>
              </a:tblGrid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he-IL">
                          <a:solidFill>
                            <a:srgbClr val="FFFFFF"/>
                          </a:solidFill>
                          <a:latin typeface="Arial"/>
                        </a:rPr>
                        <a:t>דרישה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he-IL">
                          <a:solidFill>
                            <a:srgbClr val="FFFFFF"/>
                          </a:solidFill>
                          <a:latin typeface="Arial"/>
                        </a:rPr>
                        <a:t>תוצאה</a:t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en-US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E7C8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FR-1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זיהוי מילים כטקסט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49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מילים מאומנות ועוד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IDLE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, מתוך יעד של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50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. דיוק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97.6%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במחשב ו-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90.0%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על הקלטות מה-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FR-2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תמלול דיבור חי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תוצאות חלקיות וסופיות עם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Vosk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FR-3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ערוצים בלתי תלויים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תהליכים נפרדים; משותף רק תצורה ותור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FR-4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כלי הקלטה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הקלטה בלי ידיים, במחשב וגם על ה-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FR-5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אימון משוחזר וייצוא ל-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INT8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זרע אקראי קבוע, ודיוק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TFLite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זהה לזה של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Keras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FR-6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אפליקציה שעולה עם ההדלקה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עולה במסך מלא; רשימת בדיקות הקבלה בתהליך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FR-7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סימן למילים מדוברות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144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מילים: 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49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שלנו ו-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95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מ-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MS-ASL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NFR-1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אופליין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אין גישה לרשת בזמן ריצה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NFR-2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ארבע הליבות של ה-</a:t>
                      </a:r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6.5-7.5 FPS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עם תנוחה וידיים במקביל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NFR-3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השהיה חסומה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תורים חסומים שזורקים את הישן, עם בדיקות יחידה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NFR-4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רישיונות פתוחים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כל הספריות והמודלים חופשיים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NFR-5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פחות ממיליון פרמטרים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120,178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פרמטרים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NFR-6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 נבדק בלי חומרה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232</a:t>
                      </a:r>
                      <a:r>
                        <a:rPr sz="1200" b="0" lang="he-IL">
                          <a:solidFill>
                            <a:srgbClr val="173039"/>
                          </a:solidFill>
                          <a:latin typeface="Arial"/>
                        </a:rPr>
                        <a:t> בדיקות אוטומטיות במחשב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en-US">
                          <a:solidFill>
                            <a:srgbClr val="173039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653</Words>
  <Application>Microsoft Office PowerPoint</Application>
  <PresentationFormat>מסך רחב</PresentationFormat>
  <Paragraphs>88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גיל אוחנה</cp:lastModifiedBy>
  <cp:revision>25</cp:revision>
  <dcterms:created xsi:type="dcterms:W3CDTF">2013-01-27T09:14:16Z</dcterms:created>
  <dcterms:modified xsi:type="dcterms:W3CDTF">2026-09-29T13:20:05Z</dcterms:modified>
  <cp:category/>
</cp:coreProperties>
</file>